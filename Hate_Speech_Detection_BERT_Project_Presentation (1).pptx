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E63946"/>
            </a:solidFill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Epoch 1</c:v>
                  </c:pt>
                  <c:pt idx="1">
                    <c:v>Epoch 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0.4649</c:v>
                </c:pt>
                <c:pt idx="1">
                  <c:v>0.2638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3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52B4F"/>
        </a:solidFill>
        <a:ln>
          <a:noFill/>
        </a:ln>
        <a:effectLst/>
      </c:spPr>
    </c:plotArea>
    <c:plotVisOnly val="1"/>
    <c:dispBlanksAs val="span"/>
  </c:chart>
  <c:spPr>
    <a:solidFill>
      <a:srgbClr val="252B4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Score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</c:v>
                </c:pt>
                <c:pt idx="1">
                  <c:v>0.9</c:v>
                </c:pt>
                <c:pt idx="2">
                  <c:v>0.89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5F7"/>
        </a:solidFill>
        <a:ln>
          <a:noFill/>
        </a:ln>
        <a:effectLst/>
      </c:spPr>
    </c:plotArea>
    <c:plotVisOnly val="1"/>
    <c:dispBlanksAs val="span"/>
  </c:chart>
  <c:spPr>
    <a:solidFill>
      <a:srgbClr val="F4F5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252B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52B4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160520"/>
            <a:ext cx="1005840" cy="10058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14300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DEEP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Hate Speech Detection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</a:t>
            </a:r>
            <a:pPr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transformer-based 3-class text classifier that separates Hate Speech, Offensive Language, and Normal text in social-media content.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252B4F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66344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92224" y="4663440"/>
            <a:ext cx="530352" cy="384048"/>
          </a:xfrm>
          <a:prstGeom prst="roundRect">
            <a:avLst>
              <a:gd name="adj" fmla="val 50000"/>
            </a:avLst>
          </a:prstGeom>
          <a:solidFill>
            <a:srgbClr val="252B4F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92224" y="4663440"/>
            <a:ext cx="530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87168" y="466344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252B4F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4663440"/>
            <a:ext cx="621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466344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252B4F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466344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4256" y="466344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252B4F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466344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466344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252B4F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466344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Detection · BERT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4937760" cy="0"/>
          </a:xfrm>
          <a:prstGeom prst="line">
            <a:avLst/>
          </a:prstGeom>
          <a:noFill/>
          <a:ln w="12700">
            <a:solidFill>
              <a:srgbClr val="D7D9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947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harmful language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1343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harmful or abusive language in social-media text.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999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into 3 categories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36499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sort text as Hate Speech, Offensive, or Normal.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0507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contextual understanding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41655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transformer-based BERT representations for deeper context.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1023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 predictions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46811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prediction function for new, unseen text.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0" y="1783080"/>
            <a:ext cx="3840480" cy="4206240"/>
          </a:xfrm>
          <a:prstGeom prst="roundRect">
            <a:avLst>
              <a:gd name="adj" fmla="val 285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52400" dist="50800" dir="5400000">
              <a:srgbClr val="1B1F3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3816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3317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252B4F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2331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so stupid”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692640" y="3108960"/>
            <a:ext cx="0" cy="411480"/>
          </a:xfrm>
          <a:prstGeom prst="line">
            <a:avLst/>
          </a:prstGeom>
          <a:noFill/>
          <a:ln w="25400">
            <a:solidFill>
              <a:srgbClr val="5B60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138160" y="365760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252B4F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36576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4352544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1A208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3525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Language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38160" y="504748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252B4F"/>
          </a:solidFill>
          <a:ln w="12700">
            <a:solidFill>
              <a:srgbClr val="3A4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504748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Neither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Detection · BERT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Preprocessing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24,783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tweets in the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92024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2103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28803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subset used for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training/experiments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92024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103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715000" y="28803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 length for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tokenization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labeled hate-speech and offensive-language dataset.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Pipeline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57B9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892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20240" y="5349240"/>
            <a:ext cx="256032" cy="0"/>
          </a:xfrm>
          <a:prstGeom prst="line">
            <a:avLst/>
          </a:prstGeom>
          <a:noFill/>
          <a:ln w="25400">
            <a:solidFill>
              <a:srgbClr val="C7CB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76272" y="4892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57B9D"/>
          </a:solidFill>
          <a:ln/>
        </p:spPr>
      </p:sp>
      <p:sp>
        <p:nvSpPr>
          <p:cNvPr id="20" name="Text 18"/>
          <p:cNvSpPr/>
          <p:nvPr/>
        </p:nvSpPr>
        <p:spPr>
          <a:xfrm>
            <a:off x="2221992" y="4892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retweet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47872" y="5349240"/>
            <a:ext cx="256032" cy="0"/>
          </a:xfrm>
          <a:prstGeom prst="line">
            <a:avLst/>
          </a:prstGeom>
          <a:noFill/>
          <a:ln w="25400">
            <a:solidFill>
              <a:srgbClr val="C7CB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03904" y="4892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57B9D"/>
          </a:solidFill>
          <a:ln/>
        </p:spPr>
      </p:sp>
      <p:sp>
        <p:nvSpPr>
          <p:cNvPr id="23" name="Text 21"/>
          <p:cNvSpPr/>
          <p:nvPr/>
        </p:nvSpPr>
        <p:spPr>
          <a:xfrm>
            <a:off x="3849624" y="4892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mentions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links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75504" y="5349240"/>
            <a:ext cx="256032" cy="0"/>
          </a:xfrm>
          <a:prstGeom prst="line">
            <a:avLst/>
          </a:prstGeom>
          <a:noFill/>
          <a:ln w="25400">
            <a:solidFill>
              <a:srgbClr val="C7CB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31536" y="4892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57B9D"/>
          </a:solidFill>
          <a:ln/>
        </p:spPr>
      </p:sp>
      <p:sp>
        <p:nvSpPr>
          <p:cNvPr id="26" name="Text 24"/>
          <p:cNvSpPr/>
          <p:nvPr/>
        </p:nvSpPr>
        <p:spPr>
          <a:xfrm>
            <a:off x="5477256" y="4892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punctuation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03136" y="5349240"/>
            <a:ext cx="256032" cy="0"/>
          </a:xfrm>
          <a:prstGeom prst="line">
            <a:avLst/>
          </a:prstGeom>
          <a:noFill/>
          <a:ln w="25400">
            <a:solidFill>
              <a:srgbClr val="C7CBD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9168" y="4892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57B9D"/>
          </a:solidFill>
          <a:ln/>
        </p:spPr>
      </p:sp>
      <p:sp>
        <p:nvSpPr>
          <p:cNvPr id="29" name="Text 27"/>
          <p:cNvSpPr/>
          <p:nvPr/>
        </p:nvSpPr>
        <p:spPr>
          <a:xfrm>
            <a:off x="7104888" y="4892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extra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61120" y="1920240"/>
            <a:ext cx="2651760" cy="3886200"/>
          </a:xfrm>
          <a:prstGeom prst="roundRect">
            <a:avLst>
              <a:gd name="adj" fmla="val 4138"/>
            </a:avLst>
          </a:prstGeom>
          <a:solidFill>
            <a:srgbClr val="F4F5F7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8972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bert-base-uncased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189720" y="3017520"/>
            <a:ext cx="2194560" cy="0"/>
          </a:xfrm>
          <a:prstGeom prst="line">
            <a:avLst/>
          </a:prstGeom>
          <a:noFill/>
          <a:ln w="12700">
            <a:solidFill>
              <a:srgbClr val="D7D9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32004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Uncased WordPiece tokenizer pretrained by Google, fine-tuned here for 3-class hate-speech classification.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89720" y="48920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B1F3B"/>
          </a:solidFill>
          <a:ln/>
        </p:spPr>
      </p:sp>
      <p:sp>
        <p:nvSpPr>
          <p:cNvPr id="36" name="Text 34"/>
          <p:cNvSpPr/>
          <p:nvPr/>
        </p:nvSpPr>
        <p:spPr>
          <a:xfrm>
            <a:off x="9189720" y="4892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 = 64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Detection · BERT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463040"/>
            <a:ext cx="4023360" cy="4023360"/>
          </a:xfrm>
          <a:prstGeom prst="ellipse">
            <a:avLst/>
          </a:prstGeom>
          <a:solidFill>
            <a:srgbClr val="252B4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 Model &amp; Training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 fine-tuned for 3-class sequence classification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252B4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134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55117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69080" y="224028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252B4F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31343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51960" y="255117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25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8211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341985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69080" y="310896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252B4F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318211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51960" y="341985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252B4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507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428853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069080" y="397764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252B4F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405079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51960" y="428853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10⁻⁵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252B4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919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515721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069080" y="4846320"/>
            <a:ext cx="3246120" cy="713232"/>
          </a:xfrm>
          <a:prstGeom prst="roundRect">
            <a:avLst>
              <a:gd name="adj" fmla="val 10256"/>
            </a:avLst>
          </a:prstGeom>
          <a:solidFill>
            <a:srgbClr val="252B4F"/>
          </a:solidFill>
          <a:ln/>
        </p:spPr>
      </p:sp>
      <p:sp>
        <p:nvSpPr>
          <p:cNvPr id="29" name="Text 27"/>
          <p:cNvSpPr/>
          <p:nvPr/>
        </p:nvSpPr>
        <p:spPr>
          <a:xfrm>
            <a:off x="4251960" y="4919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8B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51960" y="515721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subset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0" y="2240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0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7589520" y="2514600"/>
          <a:ext cx="3977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Detection · BERT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1,000 held-out test samples from the 5,000-sample subset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291840" cy="3794760"/>
          </a:xfrm>
          <a:prstGeom prst="roundRect">
            <a:avLst>
              <a:gd name="adj" fmla="val 3333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89.8%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005840" y="4160520"/>
            <a:ext cx="2377440" cy="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89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across all three classes on unseen test data.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60520" y="2148840"/>
          <a:ext cx="39319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8458200" y="2148840"/>
            <a:ext cx="3154680" cy="37947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2843784"/>
            <a:ext cx="109728" cy="10972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0" y="27157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precision &amp; recall — the model isn't biased toward one class.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732520" y="3803904"/>
            <a:ext cx="109728" cy="10972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7" name="Text 14"/>
          <p:cNvSpPr/>
          <p:nvPr/>
        </p:nvSpPr>
        <p:spPr>
          <a:xfrm>
            <a:off x="8961120" y="36758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 weighted F1 shows consistent performance despite class imbalance in the data.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32520" y="4764024"/>
            <a:ext cx="109728" cy="10972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0" y="463600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 for a 2-epoch fine-tune on a 5,000-sample subset.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Detection · BERT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Testing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look beautiful”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/ Normal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02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so stupid”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260604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F1A208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Language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290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65176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classified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51760" y="3977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manually-designed, obvious test cases were classified correctly (100%).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DF1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70916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325880" y="470916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caveat: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7/7 result is a small manual test set and should not be treated as the model's overall accuracy — the 89.8% test accuracy on 1,000 samples is the reliable metric.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Detection · BERT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Future Improvements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810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23744" y="2194560"/>
            <a:ext cx="1810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21945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98848" y="2194560"/>
            <a:ext cx="1810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219456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810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0779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23744" y="2907792"/>
            <a:ext cx="1810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290779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98848" y="2907792"/>
            <a:ext cx="1810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290779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21024"/>
            <a:ext cx="1810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2102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523744" y="3621024"/>
            <a:ext cx="1810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362102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98848" y="3621024"/>
            <a:ext cx="181051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4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98848" y="362102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178308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1B1F3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011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2514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24871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full labeled dataset, not just the 5,000-sample subset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31729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(learning rate, epochs, batch size)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3886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06640" y="38587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across the three categories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4572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06640" y="45445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web interface / API for live predictions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5257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523036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larger, independent test set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Detection · BERT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2026-08-29T17:44:28Z</dcterms:created>
  <dcterms:modified xsi:type="dcterms:W3CDTF">2026-08-29T17:44:28Z</dcterms:modified>
</cp:coreProperties>
</file>